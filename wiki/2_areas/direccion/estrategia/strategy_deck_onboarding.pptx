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d2e39c425819467e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22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5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15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BRIEF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32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Estrategia de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H2 2026 — cómo cerramos la puerta de entrada sin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Pablo Gomes  ·  20 de julio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POR QUÉ ESTE FOCO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Tres problemas, un solo objetivo para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ES" sz="1350" b="0" i="1" dirty="0" smtClean="0">
                <a:solidFill>
                  <a:srgbClr val="5A627D"/>
                </a:solidFill>
                <a:latin typeface="Calibri"/>
              </a:rPr>
              <a:t>El banco nos impone crear un plan de remediación de validaciones en altas de cuentas en Bind PSP. Y hoy presentamos los siguientes problemas:</a:t>
            </a:r>
            <a:endParaRPr sz="1350" b="0" i="1" dirty="0">
              <a:solidFill>
                <a:srgbClr val="5A627D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Cambria"/>
              </a:rPr>
              <a:t>Flujo</a:t>
            </a:r>
            <a:r>
              <a:rPr sz="1600" b="1" i="0" dirty="0">
                <a:solidFill>
                  <a:srgbClr val="FFFFFF"/>
                </a:solidFill>
                <a:latin typeface="Cambria"/>
              </a:rPr>
              <a:t> de </a:t>
            </a:r>
            <a:r>
              <a:rPr sz="1600" b="1" i="0" dirty="0" err="1">
                <a:solidFill>
                  <a:srgbClr val="FFFFFF"/>
                </a:solidFill>
                <a:latin typeface="Cambria"/>
              </a:rPr>
              <a:t>altas</a:t>
            </a:r>
            <a:r>
              <a:rPr sz="16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mbria"/>
              </a:rPr>
              <a:t>nuevas</a:t>
            </a:r>
            <a:endParaRPr sz="1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880360" cy="74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ES" sz="1400" b="0" i="0" dirty="0" smtClean="0">
                <a:solidFill>
                  <a:srgbClr val="CADCFC"/>
                </a:solidFill>
                <a:latin typeface="Calibri"/>
              </a:rPr>
              <a:t>&gt; 95% de </a:t>
            </a:r>
            <a:r>
              <a:rPr sz="1400" b="0" i="0" dirty="0" smtClean="0">
                <a:solidFill>
                  <a:srgbClr val="CADCFC"/>
                </a:solidFill>
                <a:latin typeface="Calibri"/>
              </a:rPr>
              <a:t>las </a:t>
            </a:r>
            <a:r>
              <a:rPr lang="es-ES" sz="1400" b="0" i="0" dirty="0" smtClean="0">
                <a:solidFill>
                  <a:srgbClr val="CADCFC"/>
                </a:solidFill>
                <a:latin typeface="Calibri"/>
              </a:rPr>
              <a:t>nuevas </a:t>
            </a:r>
            <a:r>
              <a:rPr sz="1400" b="0" i="0" dirty="0" err="1" smtClean="0">
                <a:solidFill>
                  <a:srgbClr val="CADCFC"/>
                </a:solidFill>
                <a:latin typeface="Calibri"/>
              </a:rPr>
              <a:t>cuentas</a:t>
            </a:r>
            <a:r>
              <a:rPr sz="1400" b="0" i="0" dirty="0" smtClean="0">
                <a:solidFill>
                  <a:srgbClr val="CADCFC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se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crean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hoy sin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ninguna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validación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sz="1400" b="0" i="0" dirty="0" smtClean="0">
                <a:solidFill>
                  <a:srgbClr val="CADCFC"/>
                </a:solidFill>
                <a:latin typeface="Calibri"/>
              </a:rPr>
              <a:t>real</a:t>
            </a:r>
            <a:r>
              <a:rPr lang="es-ES" sz="1400" b="0" i="0" dirty="0" smtClean="0">
                <a:solidFill>
                  <a:srgbClr val="CADCFC"/>
                </a:solidFill>
                <a:latin typeface="Calibri"/>
              </a:rPr>
              <a:t> de Bind PSP</a:t>
            </a:r>
            <a:r>
              <a:rPr sz="1400" b="0" i="0" dirty="0" smtClean="0">
                <a:solidFill>
                  <a:srgbClr val="CADCFC"/>
                </a:solidFill>
                <a:latin typeface="Calibri"/>
              </a:rPr>
              <a:t>.</a:t>
            </a:r>
            <a:endParaRPr sz="14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E8A33D"/>
                </a:solidFill>
                <a:latin typeface="Calibri"/>
              </a:rPr>
              <a:t>ELEGIDO PARA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3172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26060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dirty="0">
                <a:solidFill>
                  <a:srgbClr val="1E2761"/>
                </a:solidFill>
                <a:latin typeface="Cambria"/>
              </a:rPr>
              <a:t>Stock </a:t>
            </a:r>
            <a:r>
              <a:rPr sz="1600" b="1" i="0" dirty="0" err="1">
                <a:solidFill>
                  <a:srgbClr val="1E2761"/>
                </a:solidFill>
                <a:latin typeface="Cambria"/>
              </a:rPr>
              <a:t>existente</a:t>
            </a:r>
            <a:endParaRPr sz="16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4023360"/>
            <a:ext cx="2880360" cy="74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5A627D"/>
                </a:solidFill>
                <a:latin typeface="Calibri"/>
              </a:rPr>
              <a:t>No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sabemos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cuánta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documentación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tienen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las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cuentas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ya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creadas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presumiblemente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casi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ninguna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120640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A627D"/>
                </a:solidFill>
                <a:latin typeface="Calibri"/>
              </a:rPr>
              <a:t>Se retoma en ciclos siguientes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33172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40" y="26060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3832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1E2761"/>
                </a:solidFill>
                <a:latin typeface="Cambria"/>
              </a:rPr>
              <a:t>Experiencia</a:t>
            </a:r>
            <a:r>
              <a:rPr sz="1600" b="1" i="0" dirty="0">
                <a:solidFill>
                  <a:srgbClr val="1E2761"/>
                </a:solidFill>
                <a:latin typeface="Cambria"/>
              </a:rPr>
              <a:t> del </a:t>
            </a:r>
            <a:r>
              <a:rPr sz="1600" b="1" i="0" dirty="0" err="1">
                <a:solidFill>
                  <a:srgbClr val="1E2761"/>
                </a:solidFill>
                <a:latin typeface="Cambria"/>
              </a:rPr>
              <a:t>proceso</a:t>
            </a:r>
            <a:endParaRPr sz="16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0" y="4023360"/>
            <a:ext cx="2880360" cy="74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5A627D"/>
                </a:solidFill>
                <a:latin typeface="Calibri"/>
              </a:rPr>
              <a:t>Casi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mitad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de las solicitudes que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sí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pasan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el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proceso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es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rechazada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, y la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mayoría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no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es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27D"/>
                </a:solidFill>
                <a:latin typeface="Calibri"/>
              </a:rPr>
              <a:t>fraude</a:t>
            </a:r>
            <a:r>
              <a:rPr sz="1400" b="0" i="0" dirty="0">
                <a:solidFill>
                  <a:srgbClr val="5A627D"/>
                </a:solidFill>
                <a:latin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120640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A627D"/>
                </a:solidFill>
                <a:latin typeface="Calibri"/>
              </a:rPr>
              <a:t>Se retoma en ciclos siguientes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627D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27D"/>
                </a:solidFill>
                <a:latin typeface="Calibri"/>
              </a:rPr>
              <a:t>ESTRATEGIA ONBOARDING · H2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FOCO DEL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Validar toda cuenta nueva antes de crearla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099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ES" sz="1350" b="0" i="0" dirty="0" smtClean="0">
                <a:solidFill>
                  <a:srgbClr val="5A627D"/>
                </a:solidFill>
                <a:latin typeface="Calibri"/>
              </a:rPr>
              <a:t>Primero cerremos la canilla: Elegimos enfocarnos en cubrir con validaciones todas las nuevas altas de Bind PSP.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 dirty="0" err="1" smtClean="0">
                <a:solidFill>
                  <a:srgbClr val="5A627D"/>
                </a:solidFill>
                <a:latin typeface="Calibri"/>
              </a:rPr>
              <a:t>Es</a:t>
            </a:r>
            <a:r>
              <a:rPr sz="1350" b="0" i="0" dirty="0" smtClean="0">
                <a:solidFill>
                  <a:srgbClr val="5A627D"/>
                </a:solidFill>
                <a:latin typeface="Calibri"/>
              </a:rPr>
              <a:t> </a:t>
            </a:r>
            <a:r>
              <a:rPr sz="1350" b="0" i="0" dirty="0">
                <a:solidFill>
                  <a:srgbClr val="5A627D"/>
                </a:solidFill>
                <a:latin typeface="Calibri"/>
              </a:rPr>
              <a:t>el </a:t>
            </a:r>
            <a:r>
              <a:rPr sz="1350" b="0" i="0" dirty="0" err="1">
                <a:solidFill>
                  <a:srgbClr val="5A627D"/>
                </a:solidFill>
                <a:latin typeface="Calibri"/>
              </a:rPr>
              <a:t>mandato</a:t>
            </a:r>
            <a:r>
              <a:rPr sz="1350" b="0" i="0" dirty="0">
                <a:solidFill>
                  <a:srgbClr val="5A627D"/>
                </a:solidFill>
                <a:latin typeface="Calibri"/>
              </a:rPr>
              <a:t> de </a:t>
            </a:r>
            <a:r>
              <a:rPr sz="1350" b="0" i="0" dirty="0" err="1">
                <a:solidFill>
                  <a:srgbClr val="5A627D"/>
                </a:solidFill>
                <a:latin typeface="Calibri"/>
              </a:rPr>
              <a:t>cumplimiento</a:t>
            </a:r>
            <a:r>
              <a:rPr sz="1350" b="0" i="0" dirty="0">
                <a:solidFill>
                  <a:srgbClr val="5A627D"/>
                </a:solidFill>
                <a:latin typeface="Calibri"/>
              </a:rPr>
              <a:t> del banco y la </a:t>
            </a:r>
            <a:r>
              <a:rPr sz="1350" b="0" i="0" dirty="0" err="1">
                <a:solidFill>
                  <a:srgbClr val="5A627D"/>
                </a:solidFill>
                <a:latin typeface="Calibri"/>
              </a:rPr>
              <a:t>puerta</a:t>
            </a:r>
            <a:r>
              <a:rPr sz="1350" b="0" i="0" dirty="0">
                <a:solidFill>
                  <a:srgbClr val="5A627D"/>
                </a:solidFill>
                <a:latin typeface="Calibri"/>
              </a:rPr>
              <a:t> de entrada de </a:t>
            </a:r>
            <a:r>
              <a:rPr sz="1350" b="0" i="0" dirty="0" err="1">
                <a:solidFill>
                  <a:srgbClr val="5A627D"/>
                </a:solidFill>
                <a:latin typeface="Calibri"/>
              </a:rPr>
              <a:t>todo</a:t>
            </a:r>
            <a:r>
              <a:rPr sz="1350" b="0" i="0" dirty="0">
                <a:solidFill>
                  <a:srgbClr val="5A627D"/>
                </a:solidFill>
                <a:latin typeface="Calibri"/>
              </a:rPr>
              <a:t> el </a:t>
            </a:r>
            <a:r>
              <a:rPr sz="1350" b="0" i="0" dirty="0" err="1">
                <a:solidFill>
                  <a:srgbClr val="5A627D"/>
                </a:solidFill>
                <a:latin typeface="Calibri"/>
              </a:rPr>
              <a:t>volumen</a:t>
            </a:r>
            <a:r>
              <a:rPr sz="1350" b="0" i="0" dirty="0">
                <a:solidFill>
                  <a:srgbClr val="5A627D"/>
                </a:solidFill>
                <a:latin typeface="Calibri"/>
              </a:rPr>
              <a:t> de </a:t>
            </a:r>
            <a:r>
              <a:rPr sz="1350" b="0" i="0" dirty="0" err="1">
                <a:solidFill>
                  <a:srgbClr val="5A627D"/>
                </a:solidFill>
                <a:latin typeface="Calibri"/>
              </a:rPr>
              <a:t>negocio</a:t>
            </a:r>
            <a:r>
              <a:rPr sz="1350" b="0" i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5A627D"/>
                </a:solidFill>
                <a:latin typeface="Calibri"/>
              </a:rPr>
              <a:t>futuro</a:t>
            </a:r>
            <a:r>
              <a:rPr sz="1350" b="0" i="0" dirty="0">
                <a:solidFill>
                  <a:srgbClr val="5A627D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1E2761"/>
                </a:solidFill>
                <a:latin typeface="Cambria"/>
              </a:rPr>
              <a:t>~5%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A627D"/>
                </a:solidFill>
                <a:latin typeface="Calibri"/>
              </a:rPr>
              <a:t>Cobertura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9748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E8A33D"/>
                </a:solidFill>
                <a:latin typeface="Cambria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611880"/>
            <a:ext cx="2926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dirty="0">
                <a:solidFill>
                  <a:srgbClr val="5A627D"/>
                </a:solidFill>
                <a:latin typeface="Calibri"/>
              </a:rPr>
              <a:t>Meta a fin de </a:t>
            </a:r>
            <a:r>
              <a:rPr sz="1300" b="1" i="0" dirty="0" smtClean="0">
                <a:solidFill>
                  <a:srgbClr val="5A627D"/>
                </a:solidFill>
                <a:latin typeface="Calibri"/>
              </a:rPr>
              <a:t>2026</a:t>
            </a:r>
            <a:r>
              <a:rPr lang="es-ES" sz="1300" b="1" i="0" dirty="0" smtClean="0">
                <a:solidFill>
                  <a:srgbClr val="5A627D"/>
                </a:solidFill>
                <a:latin typeface="Calibri"/>
              </a:rPr>
              <a:t> (OKR)</a:t>
            </a:r>
            <a:endParaRPr sz="1300" b="1" i="0" dirty="0">
              <a:solidFill>
                <a:srgbClr val="5A627D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487168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1E2761"/>
                </a:solidFill>
                <a:latin typeface="Calibri"/>
              </a:rPr>
              <a:t>HOY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88920"/>
            <a:ext cx="3017520" cy="495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73A"/>
                </a:solidFill>
                <a:latin typeface="Calibri"/>
              </a:rPr>
              <a:t>Apenas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1 de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cada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20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cuentas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nuevas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pasa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una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validación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aprobada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1091672" cy="141732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E8A33D"/>
                </a:solidFill>
                <a:latin typeface="Calibri"/>
              </a:rPr>
              <a:t>EN PARALELO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10515600" cy="495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73A"/>
                </a:solidFill>
                <a:latin typeface="Calibri"/>
              </a:rPr>
              <a:t>Corre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, de forma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independiente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, un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ajuste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regulatorio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corto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plazo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sobre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límites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de 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cantidad de </a:t>
            </a:r>
            <a:r>
              <a:rPr sz="1400" b="0" i="0" dirty="0" err="1" smtClean="0">
                <a:solidFill>
                  <a:srgbClr val="22273A"/>
                </a:solidFill>
                <a:latin typeface="Calibri"/>
              </a:rPr>
              <a:t>cuentas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titular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 (totalizadores). Con esto el 100% de las </a:t>
            </a:r>
            <a:r>
              <a:rPr lang="es-ES" sz="1400" b="0" i="0" dirty="0" err="1" smtClean="0">
                <a:solidFill>
                  <a:srgbClr val="22273A"/>
                </a:solidFill>
                <a:latin typeface="Calibri"/>
              </a:rPr>
              <a:t>nuevsa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 cuentas de </a:t>
            </a:r>
            <a:r>
              <a:rPr lang="es-ES" sz="1400" b="0" i="0" dirty="0" err="1" smtClean="0">
                <a:solidFill>
                  <a:srgbClr val="22273A"/>
                </a:solidFill>
                <a:latin typeface="Calibri"/>
              </a:rPr>
              <a:t>wallet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 tendrán esta validación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—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importa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cumplirlo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pero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no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resuelve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el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problema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de </a:t>
            </a:r>
            <a:r>
              <a:rPr sz="1400" b="0" i="0" dirty="0" err="1" smtClean="0">
                <a:solidFill>
                  <a:srgbClr val="22273A"/>
                </a:solidFill>
                <a:latin typeface="Calibri"/>
              </a:rPr>
              <a:t>cobertura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 de raíz.</a:t>
            </a:r>
            <a:endParaRPr sz="1400" b="0" i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627D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27D"/>
                </a:solidFill>
                <a:latin typeface="Calibri"/>
              </a:rPr>
              <a:t>ESTRATEGIA ONBOARDING · H2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CÓMO ATACAMOS EL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 smtClean="0">
                <a:solidFill>
                  <a:srgbClr val="1E2761"/>
                </a:solidFill>
                <a:latin typeface="Cambria"/>
              </a:rPr>
              <a:t>Roadmap </a:t>
            </a:r>
            <a:r>
              <a:rPr sz="3000" b="1" i="0" dirty="0">
                <a:solidFill>
                  <a:srgbClr val="1E2761"/>
                </a:solidFill>
                <a:latin typeface="Cambria"/>
              </a:rPr>
              <a:t>del </a:t>
            </a:r>
            <a:r>
              <a:rPr sz="3000" b="1" i="0" dirty="0" err="1">
                <a:solidFill>
                  <a:srgbClr val="1E2761"/>
                </a:solidFill>
                <a:latin typeface="Cambria"/>
              </a:rPr>
              <a:t>flujo</a:t>
            </a:r>
            <a:r>
              <a:rPr sz="3000" b="1" i="0" dirty="0">
                <a:solidFill>
                  <a:srgbClr val="1E2761"/>
                </a:solidFill>
                <a:latin typeface="Cambria"/>
              </a:rPr>
              <a:t> de </a:t>
            </a:r>
            <a:r>
              <a:rPr sz="3000" b="1" i="0" dirty="0" err="1">
                <a:solidFill>
                  <a:srgbClr val="1E2761"/>
                </a:solidFill>
                <a:latin typeface="Cambria"/>
              </a:rPr>
              <a:t>cuentas</a:t>
            </a:r>
            <a:r>
              <a:rPr sz="3000" b="1" i="0" dirty="0">
                <a:solidFill>
                  <a:srgbClr val="1E2761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1E2761"/>
                </a:solidFill>
                <a:latin typeface="Cambria"/>
              </a:rPr>
              <a:t>nuevas</a:t>
            </a:r>
            <a:endParaRPr sz="30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4290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AHORA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429000" cy="2622816"/>
          </a:xfrm>
          <a:prstGeom prst="roundRect">
            <a:avLst>
              <a:gd name="adj" fmla="val 6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2" y="251460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6517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ES" sz="1400" dirty="0" smtClean="0">
                <a:solidFill>
                  <a:srgbClr val="22273A"/>
                </a:solidFill>
                <a:latin typeface="Calibri"/>
              </a:rPr>
              <a:t>Validar todas las altas de cuenta </a:t>
            </a:r>
            <a:r>
              <a:rPr lang="es-ES" sz="1400" dirty="0" err="1" smtClean="0">
                <a:solidFill>
                  <a:srgbClr val="22273A"/>
                </a:solidFill>
                <a:latin typeface="Calibri"/>
              </a:rPr>
              <a:t>wallet</a:t>
            </a:r>
            <a:r>
              <a:rPr lang="es-ES" sz="1400" dirty="0" smtClean="0">
                <a:solidFill>
                  <a:srgbClr val="22273A"/>
                </a:solidFill>
                <a:latin typeface="Calibri"/>
              </a:rPr>
              <a:t> de p</a:t>
            </a:r>
            <a:r>
              <a:rPr sz="1400" b="0" i="0" dirty="0" err="1" smtClean="0">
                <a:solidFill>
                  <a:srgbClr val="22273A"/>
                </a:solidFill>
                <a:latin typeface="Calibri"/>
              </a:rPr>
              <a:t>ersonas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físicas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adultas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205454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159734"/>
            <a:ext cx="26517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>
                <a:solidFill>
                  <a:srgbClr val="22273A"/>
                </a:solidFill>
                <a:latin typeface="Calibri"/>
              </a:rPr>
              <a:t>Control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normativo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puntual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pedido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el 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banco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 (totalizadores)</a:t>
            </a:r>
            <a:endParaRPr sz="1400" b="0" i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1600200"/>
            <a:ext cx="3429000" cy="502920"/>
          </a:xfrm>
          <a:prstGeom prst="roundRect">
            <a:avLst>
              <a:gd name="adj" fmla="val 12000"/>
            </a:avLst>
          </a:prstGeom>
          <a:solidFill>
            <a:srgbClr val="3B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60020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94560"/>
            <a:ext cx="3429000" cy="2622816"/>
          </a:xfrm>
          <a:prstGeom prst="roundRect">
            <a:avLst>
              <a:gd name="adj" fmla="val 6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53712" y="251460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468880"/>
            <a:ext cx="26517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Extender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 uso a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 smtClean="0">
                <a:solidFill>
                  <a:srgbClr val="22273A"/>
                </a:solidFill>
                <a:latin typeface="Calibri"/>
              </a:rPr>
              <a:t>validación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 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de altas </a:t>
            </a:r>
            <a:r>
              <a:rPr lang="es-ES" sz="1400" b="0" i="0" dirty="0" err="1" smtClean="0">
                <a:solidFill>
                  <a:srgbClr val="22273A"/>
                </a:solidFill>
                <a:latin typeface="Calibri"/>
              </a:rPr>
              <a:t>wallet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 para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menores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edad</a:t>
            </a:r>
            <a:endParaRPr sz="1400" b="0" i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429000" cy="502920"/>
          </a:xfrm>
          <a:prstGeom prst="roundRect">
            <a:avLst>
              <a:gd name="adj" fmla="val 12000"/>
            </a:avLst>
          </a:prstGeom>
          <a:solidFill>
            <a:srgbClr val="6B7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60020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MÁS ADELANTE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194560"/>
            <a:ext cx="3429000" cy="2622816"/>
          </a:xfrm>
          <a:prstGeom prst="roundRect">
            <a:avLst>
              <a:gd name="adj" fmla="val 6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02752" y="251460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468880"/>
            <a:ext cx="26517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s-ES" sz="1400" dirty="0">
                <a:solidFill>
                  <a:srgbClr val="22273A"/>
                </a:solidFill>
              </a:rPr>
              <a:t>Extender uso a validación de altas </a:t>
            </a:r>
            <a:r>
              <a:rPr lang="es-ES" sz="1400" dirty="0" err="1">
                <a:solidFill>
                  <a:srgbClr val="22273A"/>
                </a:solidFill>
              </a:rPr>
              <a:t>wallet</a:t>
            </a:r>
            <a:r>
              <a:rPr lang="es-ES" sz="1400" dirty="0">
                <a:solidFill>
                  <a:srgbClr val="22273A"/>
                </a:solidFill>
              </a:rPr>
              <a:t> </a:t>
            </a:r>
            <a:r>
              <a:rPr lang="es-ES" sz="1400" dirty="0" smtClean="0">
                <a:solidFill>
                  <a:srgbClr val="22273A"/>
                </a:solidFill>
              </a:rPr>
              <a:t>para personas jurídicas</a:t>
            </a:r>
            <a:endParaRPr lang="es-ES" sz="1400" dirty="0">
              <a:solidFill>
                <a:srgbClr val="22273A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239512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EN PARALELO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49377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73A"/>
                </a:solidFill>
                <a:latin typeface="Calibri"/>
              </a:rPr>
              <a:t>Ajuste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de una 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causa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raíz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de la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fricción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técnica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ya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 smtClean="0">
                <a:solidFill>
                  <a:srgbClr val="22273A"/>
                </a:solidFill>
                <a:latin typeface="Calibri"/>
              </a:rPr>
              <a:t>identificada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 y que ya estaba en curso su desarrollo (Nuevo DNI)</a:t>
            </a:r>
            <a:endParaRPr sz="1400" b="0" i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80760" y="507492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5239512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dirty="0">
                <a:solidFill>
                  <a:srgbClr val="1E2761"/>
                </a:solidFill>
                <a:latin typeface="Calibri"/>
              </a:rPr>
              <a:t>CICLO SIGUIENTE </a:t>
            </a:r>
            <a:r>
              <a:rPr sz="1200" b="1" i="0" dirty="0" smtClean="0">
                <a:solidFill>
                  <a:srgbClr val="1E2761"/>
                </a:solidFill>
                <a:latin typeface="Calibri"/>
              </a:rPr>
              <a:t>(</a:t>
            </a:r>
            <a:r>
              <a:rPr lang="es-ES" sz="1200" b="1" i="0" dirty="0" smtClean="0">
                <a:solidFill>
                  <a:srgbClr val="1E2761"/>
                </a:solidFill>
                <a:latin typeface="Calibri"/>
              </a:rPr>
              <a:t>SIN FOCO </a:t>
            </a:r>
            <a:r>
              <a:rPr sz="1200" b="1" i="0" dirty="0" smtClean="0">
                <a:solidFill>
                  <a:srgbClr val="1E2761"/>
                </a:solidFill>
                <a:latin typeface="Calibri"/>
              </a:rPr>
              <a:t>ESTE </a:t>
            </a:r>
            <a:r>
              <a:rPr sz="1200" b="1" i="0" dirty="0">
                <a:solidFill>
                  <a:srgbClr val="1E2761"/>
                </a:solidFill>
                <a:latin typeface="Calibri"/>
              </a:rPr>
              <a:t>AÑO)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577840"/>
            <a:ext cx="49377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>
                <a:solidFill>
                  <a:srgbClr val="22273A"/>
                </a:solidFill>
                <a:latin typeface="Calibri"/>
              </a:rPr>
              <a:t>Una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vez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resuelto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el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flujo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, se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retoma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regularización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del stock de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cuentas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existentes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627D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27D"/>
                </a:solidFill>
                <a:latin typeface="Calibri"/>
              </a:rPr>
              <a:t>ESTRATEGIA ONBOARDING · H2 2026</a:t>
            </a:r>
          </a:p>
        </p:txBody>
      </p:sp>
      <p:sp>
        <p:nvSpPr>
          <p:cNvPr id="34" name="Oval 14"/>
          <p:cNvSpPr/>
          <p:nvPr/>
        </p:nvSpPr>
        <p:spPr>
          <a:xfrm>
            <a:off x="4553712" y="3205454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5"/>
          <p:cNvSpPr txBox="1"/>
          <p:nvPr/>
        </p:nvSpPr>
        <p:spPr>
          <a:xfrm>
            <a:off x="4800600" y="3159734"/>
            <a:ext cx="26517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Agregar validaciones que faltan que pide el banco (lista 15, </a:t>
            </a:r>
            <a:r>
              <a:rPr lang="es-ES" sz="1400" b="0" i="0" dirty="0" err="1" smtClean="0">
                <a:solidFill>
                  <a:srgbClr val="22273A"/>
                </a:solidFill>
                <a:latin typeface="Calibri"/>
              </a:rPr>
              <a:t>etc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)</a:t>
            </a:r>
            <a:endParaRPr sz="1400" b="0" i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32" name="Oval 9"/>
          <p:cNvSpPr/>
          <p:nvPr/>
        </p:nvSpPr>
        <p:spPr>
          <a:xfrm>
            <a:off x="777240" y="3900692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0"/>
          <p:cNvSpPr txBox="1"/>
          <p:nvPr/>
        </p:nvSpPr>
        <p:spPr>
          <a:xfrm>
            <a:off x="1024128" y="3854972"/>
            <a:ext cx="26517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ES" sz="1400" dirty="0" smtClean="0">
                <a:solidFill>
                  <a:srgbClr val="22273A"/>
                </a:solidFill>
                <a:latin typeface="Calibri"/>
              </a:rPr>
              <a:t>Que </a:t>
            </a:r>
            <a:r>
              <a:rPr lang="es-ES" sz="1400" dirty="0" err="1" smtClean="0">
                <a:solidFill>
                  <a:srgbClr val="22273A"/>
                </a:solidFill>
                <a:latin typeface="Calibri"/>
              </a:rPr>
              <a:t>wallet</a:t>
            </a:r>
            <a:r>
              <a:rPr lang="es-ES" sz="1400" dirty="0" smtClean="0">
                <a:solidFill>
                  <a:srgbClr val="22273A"/>
                </a:solidFill>
                <a:latin typeface="Calibri"/>
              </a:rPr>
              <a:t> pueda ir a buscar </a:t>
            </a:r>
            <a:r>
              <a:rPr lang="es-ES" sz="1400" dirty="0" err="1" smtClean="0">
                <a:solidFill>
                  <a:srgbClr val="22273A"/>
                </a:solidFill>
                <a:latin typeface="Calibri"/>
              </a:rPr>
              <a:t>onboardings</a:t>
            </a:r>
            <a:r>
              <a:rPr lang="es-ES" sz="1400" dirty="0" smtClean="0">
                <a:solidFill>
                  <a:srgbClr val="22273A"/>
                </a:solidFill>
                <a:latin typeface="Calibri"/>
              </a:rPr>
              <a:t> y legajos</a:t>
            </a:r>
            <a:endParaRPr sz="1400" b="0" i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36" name="Oval 19"/>
          <p:cNvSpPr/>
          <p:nvPr/>
        </p:nvSpPr>
        <p:spPr>
          <a:xfrm>
            <a:off x="8302752" y="3199588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20"/>
          <p:cNvSpPr txBox="1"/>
          <p:nvPr/>
        </p:nvSpPr>
        <p:spPr>
          <a:xfrm>
            <a:off x="8549640" y="3153868"/>
            <a:ext cx="265176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s-ES" sz="1400" dirty="0">
                <a:solidFill>
                  <a:srgbClr val="22273A"/>
                </a:solidFill>
              </a:rPr>
              <a:t>Extender uso a validación de altas </a:t>
            </a:r>
            <a:r>
              <a:rPr lang="es-ES" sz="1400" dirty="0" smtClean="0">
                <a:solidFill>
                  <a:srgbClr val="22273A"/>
                </a:solidFill>
              </a:rPr>
              <a:t>de comercios</a:t>
            </a:r>
            <a:endParaRPr lang="es-ES" sz="1400" dirty="0">
              <a:solidFill>
                <a:srgbClr val="22273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25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LO QUE SABEMOS Y LO QUE FALTA VALIDAR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5003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Evidencia vs. apuesta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598052" cy="2148840"/>
          </a:xfrm>
          <a:prstGeom prst="roundRect">
            <a:avLst>
              <a:gd name="adj" fmla="val 7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18236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1 de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182363" cy="495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73A"/>
                </a:solidFill>
                <a:latin typeface="Calibri"/>
              </a:rPr>
              <a:t>cuentas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nuevas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pasó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una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validación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aprobada</a:t>
            </a:r>
            <a:endParaRPr sz="1400" b="0" i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78796" y="1696864"/>
            <a:ext cx="2598052" cy="2148840"/>
          </a:xfrm>
          <a:prstGeom prst="roundRect">
            <a:avLst>
              <a:gd name="adj" fmla="val 7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3116" y="1971184"/>
            <a:ext cx="218236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 dirty="0">
                <a:solidFill>
                  <a:srgbClr val="1E2761"/>
                </a:solidFill>
                <a:latin typeface="Cambria"/>
              </a:rPr>
              <a:t>~</a:t>
            </a:r>
            <a:r>
              <a:rPr sz="3200" b="1" i="0" dirty="0" smtClean="0">
                <a:solidFill>
                  <a:srgbClr val="1E2761"/>
                </a:solidFill>
                <a:latin typeface="Cambria"/>
              </a:rPr>
              <a:t>120</a:t>
            </a:r>
            <a:r>
              <a:rPr lang="es-ES" sz="3200" b="1" i="0" dirty="0" smtClean="0">
                <a:solidFill>
                  <a:srgbClr val="1E2761"/>
                </a:solidFill>
                <a:latin typeface="Cambria"/>
              </a:rPr>
              <a:t>k</a:t>
            </a:r>
            <a:r>
              <a:rPr sz="3200" b="1" i="0" dirty="0" smtClean="0">
                <a:solidFill>
                  <a:srgbClr val="1E2761"/>
                </a:solidFill>
                <a:latin typeface="Cambria"/>
              </a:rPr>
              <a:t>/</a:t>
            </a:r>
            <a:r>
              <a:rPr sz="3200" b="1" i="0" dirty="0" err="1" smtClean="0">
                <a:solidFill>
                  <a:srgbClr val="1E2761"/>
                </a:solidFill>
                <a:latin typeface="Cambria"/>
              </a:rPr>
              <a:t>mes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3116" y="2839864"/>
            <a:ext cx="2182363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73A"/>
                </a:solidFill>
                <a:latin typeface="Calibri"/>
              </a:rPr>
              <a:t>altas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de 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cuentas en </a:t>
            </a:r>
            <a:r>
              <a:rPr lang="es-ES" sz="1400" b="0" i="0" dirty="0" err="1" smtClean="0">
                <a:solidFill>
                  <a:srgbClr val="22273A"/>
                </a:solidFill>
                <a:latin typeface="Calibri"/>
              </a:rPr>
              <a:t>wallet</a:t>
            </a:r>
            <a:endParaRPr sz="1400" b="0" i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0528" y="1691640"/>
            <a:ext cx="2598052" cy="2148840"/>
          </a:xfrm>
          <a:prstGeom prst="roundRect">
            <a:avLst>
              <a:gd name="adj" fmla="val 7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4848" y="1965960"/>
            <a:ext cx="218236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 dirty="0" smtClean="0">
                <a:solidFill>
                  <a:srgbClr val="1E2761"/>
                </a:solidFill>
                <a:latin typeface="Cambria"/>
              </a:rPr>
              <a:t>~</a:t>
            </a:r>
            <a:r>
              <a:rPr lang="es-ES" sz="3200" b="1" i="0" dirty="0" smtClean="0">
                <a:solidFill>
                  <a:srgbClr val="1E2761"/>
                </a:solidFill>
                <a:latin typeface="Cambria"/>
              </a:rPr>
              <a:t>99</a:t>
            </a:r>
            <a:r>
              <a:rPr sz="3200" b="1" i="0" dirty="0" smtClean="0">
                <a:solidFill>
                  <a:srgbClr val="1E2761"/>
                </a:solidFill>
                <a:latin typeface="Cambria"/>
              </a:rPr>
              <a:t>%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84848" y="2834640"/>
            <a:ext cx="2182363" cy="495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son de personas físicas adultas</a:t>
            </a:r>
            <a:endParaRPr sz="1400" b="0" i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11091672" cy="169164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E8A33D"/>
                </a:solidFill>
                <a:latin typeface="Calibri"/>
              </a:rPr>
              <a:t>TODAVÍA ES APUESTA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10515600" cy="517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2273A"/>
                </a:solidFill>
                <a:latin typeface="Calibri"/>
              </a:rPr>
              <a:t>Asumimos que las organizaciones grandes van a poder migrar sin fricción severa, porque ya harían su propia verificación antes de llegar a nosotros. Eso se valida recién con la conversación comercial directa con cada una, antes de comprometer fechas de desarrollo.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627D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27D"/>
                </a:solidFill>
                <a:latin typeface="Calibri"/>
              </a:rPr>
              <a:t>ESTRATEGIA ONBOARDING · H2 2026</a:t>
            </a:r>
          </a:p>
        </p:txBody>
      </p:sp>
      <p:sp>
        <p:nvSpPr>
          <p:cNvPr id="19" name="Rounded Rectangle 10"/>
          <p:cNvSpPr/>
          <p:nvPr/>
        </p:nvSpPr>
        <p:spPr>
          <a:xfrm>
            <a:off x="9042260" y="1691640"/>
            <a:ext cx="2598052" cy="2148840"/>
          </a:xfrm>
          <a:prstGeom prst="roundRect">
            <a:avLst>
              <a:gd name="adj" fmla="val 7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1"/>
          <p:cNvSpPr txBox="1"/>
          <p:nvPr/>
        </p:nvSpPr>
        <p:spPr>
          <a:xfrm>
            <a:off x="9316580" y="1965960"/>
            <a:ext cx="218236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~50%</a:t>
            </a:r>
          </a:p>
        </p:txBody>
      </p:sp>
      <p:sp>
        <p:nvSpPr>
          <p:cNvPr id="21" name="TextBox 12"/>
          <p:cNvSpPr txBox="1"/>
          <p:nvPr/>
        </p:nvSpPr>
        <p:spPr>
          <a:xfrm>
            <a:off x="9316580" y="2834640"/>
            <a:ext cx="2182363" cy="74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22273A"/>
                </a:solidFill>
                <a:latin typeface="Calibri"/>
              </a:rPr>
              <a:t>de </a:t>
            </a:r>
            <a:r>
              <a:rPr sz="1400" b="0" i="0" dirty="0" err="1" smtClean="0">
                <a:solidFill>
                  <a:srgbClr val="22273A"/>
                </a:solidFill>
                <a:latin typeface="Calibri"/>
              </a:rPr>
              <a:t>rechazo</a:t>
            </a:r>
            <a:r>
              <a:rPr lang="es-ES" sz="1400" b="0" i="0" dirty="0" smtClean="0">
                <a:solidFill>
                  <a:srgbClr val="22273A"/>
                </a:solidFill>
                <a:latin typeface="Calibri"/>
              </a:rPr>
              <a:t> en solicitudes</a:t>
            </a:r>
            <a:r>
              <a:rPr sz="1400" b="0" i="0" dirty="0" smtClean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— la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mitad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es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falla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técnica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captura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, no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2273A"/>
                </a:solidFill>
                <a:latin typeface="Calibri"/>
              </a:rPr>
              <a:t>riesgo</a:t>
            </a:r>
            <a:r>
              <a:rPr sz="1400" b="0" i="0" dirty="0">
                <a:solidFill>
                  <a:srgbClr val="22273A"/>
                </a:solidFill>
                <a:latin typeface="Calibri"/>
              </a:rPr>
              <a:t> real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LO QUE PUEDE FRENARNOS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Riesgos y mitigaciones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91672" cy="1481328"/>
          </a:xfrm>
          <a:prstGeom prst="roundRect">
            <a:avLst>
              <a:gd name="adj" fmla="val 5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12680"/>
            <a:ext cx="370187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 err="1">
                <a:solidFill>
                  <a:srgbClr val="1E2761"/>
                </a:solidFill>
                <a:latin typeface="Cambria"/>
              </a:rPr>
              <a:t>Diseño</a:t>
            </a:r>
            <a:r>
              <a:rPr sz="2400" b="1" i="0" dirty="0">
                <a:solidFill>
                  <a:srgbClr val="1E2761"/>
                </a:solidFill>
                <a:latin typeface="Cambria"/>
              </a:rPr>
              <a:t> </a:t>
            </a:r>
            <a:r>
              <a:rPr sz="2400" b="1" i="0" dirty="0" err="1">
                <a:solidFill>
                  <a:srgbClr val="1E2761"/>
                </a:solidFill>
                <a:latin typeface="Cambria"/>
              </a:rPr>
              <a:t>técnico</a:t>
            </a:r>
            <a:r>
              <a:rPr sz="2400" b="1" i="0" dirty="0">
                <a:solidFill>
                  <a:srgbClr val="1E2761"/>
                </a:solidFill>
                <a:latin typeface="Cambria"/>
              </a:rPr>
              <a:t> sin resolver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989284"/>
            <a:ext cx="2651760" cy="8494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2273A"/>
                </a:solidFill>
                <a:latin typeface="Calibri"/>
              </a:rPr>
              <a:t>Falta definir quién orquesta la validación en el momento del alta.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5370" y="2044684"/>
            <a:ext cx="2696029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dirty="0" err="1">
                <a:solidFill>
                  <a:srgbClr val="E8A33D"/>
                </a:solidFill>
                <a:latin typeface="Calibri"/>
              </a:rPr>
              <a:t>Mitigación</a:t>
            </a:r>
            <a:r>
              <a:rPr sz="1600" b="1" dirty="0">
                <a:solidFill>
                  <a:srgbClr val="E8A33D"/>
                </a:solidFill>
                <a:latin typeface="Calibri"/>
              </a:rPr>
              <a:t>: 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Mesa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técnica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dedicada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esta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semana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para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destrabar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la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definición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36976"/>
            <a:ext cx="1109167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" y="369417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419070"/>
            <a:ext cx="3701870" cy="1107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E2761"/>
                </a:solidFill>
                <a:latin typeface="Cambria"/>
              </a:rPr>
              <a:t>Repositorio de documentación en disputa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580340"/>
            <a:ext cx="2651760" cy="8494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2273A"/>
                </a:solidFill>
                <a:latin typeface="Calibri"/>
              </a:rPr>
              <a:t>Hay una discusión abierta sobre dónde debe quedar la documentación de cada cliente.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5370" y="3635740"/>
            <a:ext cx="2696029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libri"/>
              </a:rPr>
              <a:t>Mitigación: </a:t>
            </a:r>
            <a:r>
              <a:rPr sz="1600" b="0">
                <a:solidFill>
                  <a:srgbClr val="22273A"/>
                </a:solidFill>
                <a:latin typeface="Calibri"/>
              </a:rPr>
              <a:t>Resolución rápida y priorizada con Compliance — afecta a ambos frentes.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28032"/>
            <a:ext cx="11091672" cy="1481328"/>
          </a:xfrm>
          <a:prstGeom prst="roundRect">
            <a:avLst>
              <a:gd name="adj" fmla="val 5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528523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2852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194792"/>
            <a:ext cx="370187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E2761"/>
                </a:solidFill>
                <a:latin typeface="Cambria"/>
              </a:rPr>
              <a:t>Riesgo comercial de migración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171396"/>
            <a:ext cx="2651760" cy="8494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2273A"/>
                </a:solidFill>
                <a:latin typeface="Calibri"/>
              </a:rPr>
              <a:t>Las organizaciones grandes podrían resistirse a migrar si perciben fricción.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5370" y="5226796"/>
            <a:ext cx="2696029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libri"/>
              </a:rPr>
              <a:t>Mitigación: </a:t>
            </a:r>
            <a:r>
              <a:rPr sz="1600" b="0">
                <a:solidFill>
                  <a:srgbClr val="22273A"/>
                </a:solidFill>
                <a:latin typeface="Calibri"/>
              </a:rPr>
              <a:t>Conversación comercial temprana, antes de fijar compromisos de fecha.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627D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27D"/>
                </a:solidFill>
                <a:latin typeface="Calibri"/>
              </a:rPr>
              <a:t>ESTRATEGIA ONBOARDING · H2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CUÁNDO REVISAMOS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Checkpoints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82981"/>
            <a:ext cx="9875520" cy="590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s-ES" sz="1600" dirty="0" smtClean="0">
                <a:solidFill>
                  <a:srgbClr val="22273A"/>
                </a:solidFill>
                <a:latin typeface="Calibri"/>
              </a:rPr>
              <a:t>Una vez tengamos un plan de desarrollo y definiciones técnicas, a</a:t>
            </a:r>
            <a:r>
              <a:rPr sz="1600" b="0" i="0" dirty="0" err="1" smtClean="0">
                <a:solidFill>
                  <a:srgbClr val="22273A"/>
                </a:solidFill>
                <a:latin typeface="Calibri"/>
              </a:rPr>
              <a:t>ntes</a:t>
            </a:r>
            <a:r>
              <a:rPr sz="1600" b="0" i="0" dirty="0" smtClean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de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comprometer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fechas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desarrollo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cierre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de la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conversación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comercial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con las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organizaciones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dominantes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82273"/>
            <a:ext cx="9875520" cy="2954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73A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el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corto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plazo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resolución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de la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definición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orquestación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técnica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y del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repositorio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22273A"/>
                </a:solidFill>
                <a:latin typeface="Calibri"/>
              </a:rPr>
              <a:t>documentación</a:t>
            </a:r>
            <a:r>
              <a:rPr sz="1600" b="0" i="0" dirty="0">
                <a:solidFill>
                  <a:srgbClr val="22273A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7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10424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E8A33D"/>
                </a:solidFill>
                <a:latin typeface="Calibri"/>
              </a:rPr>
              <a:t>SIN FECHA LÍMITE EXTERNA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10424160" cy="590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1">
                <a:solidFill>
                  <a:srgbClr val="22273A"/>
                </a:solidFill>
                <a:latin typeface="Calibri"/>
              </a:rPr>
              <a:t>El compromiso es presentarle al banco nuestro propio plan de regularización cuanto antes — este brief es, en los hechos, la base de ese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627D"/>
                </a:solidFill>
                <a:latin typeface="Calibri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27D"/>
                </a:solidFill>
                <a:latin typeface="Calibri"/>
              </a:rPr>
              <a:t>ESTRATEGIA ONBOARDING · H2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LO QUE SACRIFICAMOS A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Trade-offs explícitos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5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94309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dirty="0" err="1">
                <a:solidFill>
                  <a:srgbClr val="1E2761"/>
                </a:solidFill>
                <a:latin typeface="Cambria"/>
              </a:rPr>
              <a:t>Cubrir</a:t>
            </a:r>
            <a:r>
              <a:rPr sz="1600" b="1" dirty="0">
                <a:solidFill>
                  <a:srgbClr val="1E2761"/>
                </a:solidFill>
                <a:latin typeface="Cambria"/>
              </a:rPr>
              <a:t> </a:t>
            </a:r>
            <a:r>
              <a:rPr sz="1600" b="1" dirty="0" err="1">
                <a:solidFill>
                  <a:srgbClr val="1E2761"/>
                </a:solidFill>
                <a:latin typeface="Cambria"/>
              </a:rPr>
              <a:t>todas</a:t>
            </a:r>
            <a:r>
              <a:rPr sz="1600" b="1" dirty="0">
                <a:solidFill>
                  <a:srgbClr val="1E2761"/>
                </a:solidFill>
                <a:latin typeface="Cambria"/>
              </a:rPr>
              <a:t> las </a:t>
            </a:r>
            <a:r>
              <a:rPr sz="1600" b="1" dirty="0" err="1">
                <a:solidFill>
                  <a:srgbClr val="1E2761"/>
                </a:solidFill>
                <a:latin typeface="Cambria"/>
              </a:rPr>
              <a:t>cuentas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incluso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por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encima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de 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sumar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más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validaciones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a las que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ya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se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controlan</a:t>
            </a:r>
            <a:endParaRPr sz="1600" b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11091672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37309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dirty="0" err="1">
                <a:solidFill>
                  <a:srgbClr val="1E2761"/>
                </a:solidFill>
                <a:latin typeface="Cambria"/>
              </a:rPr>
              <a:t>Flujo</a:t>
            </a:r>
            <a:r>
              <a:rPr sz="1600" b="1" dirty="0">
                <a:solidFill>
                  <a:srgbClr val="1E2761"/>
                </a:solidFill>
                <a:latin typeface="Cambria"/>
              </a:rPr>
              <a:t> de </a:t>
            </a:r>
            <a:r>
              <a:rPr sz="1600" b="1" dirty="0" err="1">
                <a:solidFill>
                  <a:srgbClr val="1E2761"/>
                </a:solidFill>
                <a:latin typeface="Cambria"/>
              </a:rPr>
              <a:t>cuentas</a:t>
            </a:r>
            <a:r>
              <a:rPr sz="1600" b="1" dirty="0">
                <a:solidFill>
                  <a:srgbClr val="1E2761"/>
                </a:solidFill>
                <a:latin typeface="Cambria"/>
              </a:rPr>
              <a:t> </a:t>
            </a:r>
            <a:r>
              <a:rPr sz="1600" b="1" dirty="0" err="1">
                <a:solidFill>
                  <a:srgbClr val="1E2761"/>
                </a:solidFill>
                <a:latin typeface="Cambria"/>
              </a:rPr>
              <a:t>nuevas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incluso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por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encima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smtClean="0">
                <a:solidFill>
                  <a:srgbClr val="5A627D"/>
                </a:solidFill>
                <a:latin typeface="Calibri"/>
              </a:rPr>
              <a:t>de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regularizar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el stock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existente</a:t>
            </a:r>
            <a:endParaRPr sz="1600" b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3977640"/>
            <a:ext cx="11091672" cy="1051560"/>
          </a:xfrm>
          <a:prstGeom prst="roundRect">
            <a:avLst>
              <a:gd name="adj" fmla="val 5000"/>
            </a:avLst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80309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dirty="0" err="1">
                <a:solidFill>
                  <a:srgbClr val="1E2761"/>
                </a:solidFill>
                <a:latin typeface="Cambria"/>
              </a:rPr>
              <a:t>Cerrar</a:t>
            </a:r>
            <a:r>
              <a:rPr sz="1600" b="1" dirty="0">
                <a:solidFill>
                  <a:srgbClr val="1E2761"/>
                </a:solidFill>
                <a:latin typeface="Cambria"/>
              </a:rPr>
              <a:t> la </a:t>
            </a:r>
            <a:r>
              <a:rPr sz="1600" b="1" dirty="0" err="1">
                <a:solidFill>
                  <a:srgbClr val="1E2761"/>
                </a:solidFill>
                <a:latin typeface="Cambria"/>
              </a:rPr>
              <a:t>puerta</a:t>
            </a:r>
            <a:r>
              <a:rPr sz="1600" b="1" dirty="0">
                <a:solidFill>
                  <a:srgbClr val="1E2761"/>
                </a:solidFill>
                <a:latin typeface="Cambria"/>
              </a:rPr>
              <a:t> de entrada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incluso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por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encima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smtClean="0">
                <a:solidFill>
                  <a:srgbClr val="5A627D"/>
                </a:solidFill>
                <a:latin typeface="Calibri"/>
              </a:rPr>
              <a:t>de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pulir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la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experiencia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quienes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ya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pasan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por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el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proceso</a:t>
            </a:r>
            <a:endParaRPr sz="1600" b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23310"/>
            <a:ext cx="1077163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dirty="0" err="1">
                <a:solidFill>
                  <a:srgbClr val="1E2761"/>
                </a:solidFill>
                <a:latin typeface="Cambria"/>
              </a:rPr>
              <a:t>Organizaciones</a:t>
            </a:r>
            <a:r>
              <a:rPr sz="1600" b="1" dirty="0">
                <a:solidFill>
                  <a:srgbClr val="1E2761"/>
                </a:solidFill>
                <a:latin typeface="Cambria"/>
              </a:rPr>
              <a:t> de mayor </a:t>
            </a:r>
            <a:r>
              <a:rPr sz="1600" b="1" dirty="0" err="1">
                <a:solidFill>
                  <a:srgbClr val="1E2761"/>
                </a:solidFill>
                <a:latin typeface="Cambria"/>
              </a:rPr>
              <a:t>volumen</a:t>
            </a:r>
            <a:r>
              <a:rPr sz="1600" b="1" dirty="0">
                <a:solidFill>
                  <a:srgbClr val="1E2761"/>
                </a:solidFill>
                <a:latin typeface="Cambria"/>
              </a:rPr>
              <a:t> primero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err="1" smtClean="0">
                <a:solidFill>
                  <a:srgbClr val="5A627D"/>
                </a:solidFill>
                <a:latin typeface="Calibri"/>
              </a:rPr>
              <a:t>incluso</a:t>
            </a:r>
            <a:r>
              <a:rPr sz="1600" b="0" dirty="0" smtClean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por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27D"/>
                </a:solidFill>
                <a:latin typeface="Calibri"/>
              </a:rPr>
              <a:t>encima</a:t>
            </a:r>
            <a:r>
              <a:rPr sz="1600" b="0" dirty="0">
                <a:solidFill>
                  <a:srgbClr val="5A627D"/>
                </a:solidFill>
                <a:latin typeface="Calibri"/>
              </a:rPr>
              <a:t> de </a:t>
            </a:r>
            <a:r>
              <a:rPr sz="1600" b="0" dirty="0" smtClean="0">
                <a:solidFill>
                  <a:srgbClr val="22273A"/>
                </a:solidFill>
                <a:latin typeface="Calibri"/>
              </a:rPr>
              <a:t>resolver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todos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los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casos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uso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menores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al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mismo</a:t>
            </a:r>
            <a:r>
              <a:rPr sz="1600" b="0" dirty="0">
                <a:solidFill>
                  <a:srgbClr val="22273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73A"/>
                </a:solidFill>
                <a:latin typeface="Calibri"/>
              </a:rPr>
              <a:t>tiempo</a:t>
            </a:r>
            <a:endParaRPr sz="1600" b="0" dirty="0">
              <a:solidFill>
                <a:srgbClr val="22273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627D"/>
                </a:solidFill>
                <a:latin typeface="Calibri"/>
              </a:rPr>
              <a:t>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27D"/>
                </a:solidFill>
                <a:latin typeface="Calibri"/>
              </a:rPr>
              <a:t>ESTRATEGIA ONBOARDING · H2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63040" y="4480560"/>
            <a:ext cx="3657600" cy="3657600"/>
          </a:xfrm>
          <a:prstGeom prst="ellipse">
            <a:avLst/>
          </a:prstGeom>
          <a:solidFill>
            <a:srgbClr val="15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-1645920"/>
            <a:ext cx="3108960" cy="3108960"/>
          </a:xfrm>
          <a:prstGeom prst="ellipse">
            <a:avLst/>
          </a:prstGeom>
          <a:solidFill>
            <a:srgbClr val="15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Estrategia de Onboarding — H2 2026  ·  Pablo Gomes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830</Words>
  <Application>Microsoft Office PowerPoint</Application>
  <PresentationFormat>Panorámica</PresentationFormat>
  <Paragraphs>104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Pablo Antonio GOMEZ</cp:lastModifiedBy>
  <cp:revision>11</cp:revision>
  <dcterms:created xsi:type="dcterms:W3CDTF">2013-01-27T09:14:16Z</dcterms:created>
  <dcterms:modified xsi:type="dcterms:W3CDTF">2026-07-20T14:01:02Z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KriptosClassAi">
    <vt:lpwstr xmlns:vt="http://schemas.openxmlformats.org/officeDocument/2006/docPropsVTypes">0-Pública</vt:lpwstr>
  </op:property>
</op:Properties>
</file>